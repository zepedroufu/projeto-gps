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em uma frase, o projeto monitora a posição do carro com uma ESP32 e um GPS, guarda tudo mesmo sem internet e mostra o trajeto em um mapa na web. As imagens usam dados de demonstração.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enunciado foi passado verbalmente, então interpretei três requisitos: capturar, armazenar e visualizar. A decisão central foi guardar e encaminhar: o carro nem sempre tem internet, então a ESP32 grava localmente e só apaga depois da confirmação do servidor.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Fluxo: o GPS manda frases NMEA para a ESP32; ela filtra, guarda em lotes na flash e, quando encontra o Wi-Fi do iPhone, envia por HTTPS para um Google Apps Script que escreve na planilha. A página web lê a planilha. Só depois do OK do servidor o arquivo é apagado da ESP32.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ESP32 conversa com o GPS pela UART2 (GPIO16 e 17). A antena externa melhora muito a recepção dentro do carro. Os LEDs ajudam a diagnosticar sem computador: o azul da ESP32 mostra o estado do firmware e o do módulo GPS pisca quando há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decisões que fazem diferença na prática: filtrar pontos ruins; congelar a posição quando o carro está parado; trabalhar no horário de Brasília; numerar as viagens; gravar na hora a chegada, porque ao desligar o carro a RAM se perde; e fazer o Wi-Fi sem travar a leitura do GPS.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planilha do Google funciona como banco de dados e o Apps Script como API e como servidor da página. A implantação é a mesma; para atualizar sem mudar o link usa-se Nova versão em Gerenciar implantações.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Tela inicial em tema escuro, com atalhos para o mapa e para a tabela, indicadores gerais e o resumo da última viagem.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viagem tem uma cor. Paradas de 2 minutos ou mais aparecem em laranja e trechos sem sinal em linha tracejada. Ao escolher uma viagem aparece o gráfico de velocidade e, ao passar o dedo nele, um ponto no mapa mostra onde o carro estava.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tabela resume cada viagem. Velocidade média é distância dividida pela duração total; a velocidade em movimento desconsidera o tempo parado. Cada linha tem Ver no mapa e Excluir.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problemas reais e como foram resolvidos. O primeiro fix lento acontece porque o módulo começa a frio a cada ignição; uma bateria de backup no módulo resolve de vez e está nos próximos passos.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foi de fato verificado: GPS real com 12 satélites; envio real à planilha com HTTP 200; simulação do firmware no computador com viagens 1, 2 e 3; testes do Apps Script e da interface com dados simulados. Se você já fez o percurso real no carro, acrescente aqui o resultado e uma foto.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OLED e a ventoinha foram estudados e adiados de propósito, para não arriscar o hardware na véspera da entrega. As melhorias de maior impacto são a bateria de backup do GPS e o módulo 4G.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da demonstração ao vivo. Se a internet ou o GPS falharem na hora, mostre o mapa com viagens já gravadas e explique o fluxo pelo slide de arquitetura.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1554480"/>
            <a:ext cx="5852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GPS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veicular com ESP32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do processo seletivo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Estágio em Hardware Embarcado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23/10/2026</a:t>
            </a:r>
            <a:endParaRPr lang="en-US" sz="1400" dirty="0"/>
          </a:p>
        </p:txBody>
      </p:sp>
      <p:pic>
        <p:nvPicPr>
          <p:cNvPr id="5" name="Image 0" descr="Mapa com grafico de velocidade (dados de demonstracao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691640"/>
            <a:ext cx="5029200" cy="2986088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6675120" y="4769167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 com dados de demonstração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 e a solução</a:t>
            </a:r>
            <a:endParaRPr lang="en-US" sz="3600" dirty="0"/>
          </a:p>
        </p:txBody>
      </p:sp>
      <p:sp>
        <p:nvSpPr>
          <p:cNvPr id="3" name="Card"/>
          <p:cNvSpPr/>
          <p:nvPr/>
        </p:nvSpPr>
        <p:spPr>
          <a:xfrm>
            <a:off x="548640" y="1554480"/>
            <a:ext cx="640080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rgbClr val="243152"/>
            </a:solidFill>
            <a:prstDash val="solid"/>
          </a:ln>
        </p:spPr>
      </p:sp>
      <p:sp>
        <p:nvSpPr>
          <p:cNvPr id="4" name="Circulo icone"/>
          <p:cNvSpPr/>
          <p:nvPr/>
        </p:nvSpPr>
        <p:spPr>
          <a:xfrm>
            <a:off x="822960" y="182880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i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2015338"/>
            <a:ext cx="404165" cy="40416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74520" y="1783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Capturar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1874520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posição do carro com GPS, com data e hora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548640" y="3063240"/>
            <a:ext cx="640080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rgbClr val="243152"/>
            </a:solidFill>
            <a:prstDash val="solid"/>
          </a:ln>
        </p:spPr>
      </p:sp>
      <p:sp>
        <p:nvSpPr>
          <p:cNvPr id="9" name="Circulo icone"/>
          <p:cNvSpPr/>
          <p:nvPr/>
        </p:nvSpPr>
        <p:spPr>
          <a:xfrm>
            <a:off x="822960" y="3337560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mage 1" descr="ic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498" y="3524098"/>
            <a:ext cx="404165" cy="40416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874520" y="32918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Armazenar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1874520" y="3749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flash da ESP32, mesmo sem internet no carro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548640" y="4572000"/>
            <a:ext cx="640080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rgbClr val="243152"/>
            </a:solidFill>
            <a:prstDash val="solid"/>
          </a:ln>
        </p:spPr>
      </p:sp>
      <p:sp>
        <p:nvSpPr>
          <p:cNvPr id="14" name="Circulo icone"/>
          <p:cNvSpPr/>
          <p:nvPr/>
        </p:nvSpPr>
        <p:spPr>
          <a:xfrm>
            <a:off x="822960" y="4846320"/>
            <a:ext cx="777240" cy="7772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mage 2" descr="ic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8" y="5032858"/>
            <a:ext cx="404165" cy="40416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874520" y="48006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Visualizar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1874520" y="5257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Painel, mapa e tabela de viagens na web</a:t>
            </a:r>
            <a:endParaRPr lang="en-US" sz="1600" dirty="0"/>
          </a:p>
        </p:txBody>
      </p:sp>
      <p:sp>
        <p:nvSpPr>
          <p:cNvPr id="18" name="Card"/>
          <p:cNvSpPr/>
          <p:nvPr/>
        </p:nvSpPr>
        <p:spPr>
          <a:xfrm>
            <a:off x="7315200" y="1554480"/>
            <a:ext cx="4297680" cy="434340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243152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63524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 de projeto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7635240" y="22860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encaminhar</a:t>
            </a:r>
            <a:endParaRPr lang="en-US" sz="3800" dirty="0"/>
          </a:p>
        </p:txBody>
      </p:sp>
      <p:sp>
        <p:nvSpPr>
          <p:cNvPr id="21" name="Text 16"/>
          <p:cNvSpPr txBox="1"/>
          <p:nvPr/>
        </p:nvSpPr>
        <p:spPr>
          <a:xfrm>
            <a:off x="7635240" y="388620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rastreamento nunca depende da internet e nenhum ponto é apagado antes de o servidor confirmar o recebimento.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3600" dirty="0"/>
          </a:p>
        </p:txBody>
      </p:sp>
      <p:sp>
        <p:nvSpPr>
          <p:cNvPr id="3" name="Card"/>
          <p:cNvSpPr/>
          <p:nvPr/>
        </p:nvSpPr>
        <p:spPr>
          <a:xfrm>
            <a:off x="548640" y="1737360"/>
            <a:ext cx="1554480" cy="20116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rgbClr val="243152"/>
            </a:solidFill>
            <a:prstDash val="solid"/>
          </a:ln>
        </p:spPr>
      </p:sp>
      <p:sp>
        <p:nvSpPr>
          <p:cNvPr id="4" name="Circulo icone"/>
          <p:cNvSpPr/>
          <p:nvPr/>
        </p:nvSpPr>
        <p:spPr>
          <a:xfrm>
            <a:off x="960120" y="19202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i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685" y="209580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200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NEO-M8N</a:t>
            </a:r>
            <a:endParaRPr lang="en-US" sz="1200" dirty="0"/>
          </a:p>
        </p:txBody>
      </p:sp>
      <p:sp>
        <p:nvSpPr>
          <p:cNvPr id="8" name="Seta"/>
          <p:cNvSpPr/>
          <p:nvPr/>
        </p:nvSpPr>
        <p:spPr>
          <a:xfrm>
            <a:off x="2148840" y="2606040"/>
            <a:ext cx="256032" cy="27432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Card"/>
          <p:cNvSpPr/>
          <p:nvPr/>
        </p:nvSpPr>
        <p:spPr>
          <a:xfrm>
            <a:off x="2450592" y="1737360"/>
            <a:ext cx="1554480" cy="20116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rgbClr val="243152"/>
            </a:solidFill>
            <a:prstDash val="solid"/>
          </a:ln>
        </p:spPr>
      </p:sp>
      <p:sp>
        <p:nvSpPr>
          <p:cNvPr id="10" name="Circulo icone"/>
          <p:cNvSpPr/>
          <p:nvPr/>
        </p:nvSpPr>
        <p:spPr>
          <a:xfrm>
            <a:off x="2862072" y="192024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mage 1" descr="ic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7637" y="209580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450592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2450592" y="3200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+ RAM</a:t>
            </a:r>
            <a:endParaRPr lang="en-US" sz="1200" dirty="0"/>
          </a:p>
        </p:txBody>
      </p:sp>
      <p:sp>
        <p:nvSpPr>
          <p:cNvPr id="14" name="Seta"/>
          <p:cNvSpPr/>
          <p:nvPr/>
        </p:nvSpPr>
        <p:spPr>
          <a:xfrm>
            <a:off x="4050792" y="2606040"/>
            <a:ext cx="256032" cy="27432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Card"/>
          <p:cNvSpPr/>
          <p:nvPr/>
        </p:nvSpPr>
        <p:spPr>
          <a:xfrm>
            <a:off x="4352544" y="1737360"/>
            <a:ext cx="1554480" cy="20116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rgbClr val="243152"/>
            </a:solidFill>
            <a:prstDash val="solid"/>
          </a:ln>
        </p:spPr>
      </p:sp>
      <p:sp>
        <p:nvSpPr>
          <p:cNvPr id="16" name="Circulo icone"/>
          <p:cNvSpPr/>
          <p:nvPr/>
        </p:nvSpPr>
        <p:spPr>
          <a:xfrm>
            <a:off x="4764024" y="192024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Image 2" descr="ic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9589" y="2095805"/>
            <a:ext cx="380390" cy="38039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352544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4352544" y="3200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LittleFS (CSV)</a:t>
            </a:r>
            <a:endParaRPr lang="en-US" sz="1200" dirty="0"/>
          </a:p>
        </p:txBody>
      </p:sp>
      <p:sp>
        <p:nvSpPr>
          <p:cNvPr id="20" name="Seta"/>
          <p:cNvSpPr/>
          <p:nvPr/>
        </p:nvSpPr>
        <p:spPr>
          <a:xfrm>
            <a:off x="5952744" y="2606040"/>
            <a:ext cx="256032" cy="27432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Card"/>
          <p:cNvSpPr/>
          <p:nvPr/>
        </p:nvSpPr>
        <p:spPr>
          <a:xfrm>
            <a:off x="6254496" y="1737360"/>
            <a:ext cx="1554480" cy="20116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rgbClr val="243152"/>
            </a:solidFill>
            <a:prstDash val="solid"/>
          </a:ln>
        </p:spPr>
      </p:sp>
      <p:sp>
        <p:nvSpPr>
          <p:cNvPr id="22" name="Circulo icone"/>
          <p:cNvSpPr/>
          <p:nvPr/>
        </p:nvSpPr>
        <p:spPr>
          <a:xfrm>
            <a:off x="6665976" y="192024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3" name="Image 3" descr="ic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1541" y="2095805"/>
            <a:ext cx="380390" cy="38039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254496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6254496" y="3200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(HTTPS)</a:t>
            </a:r>
            <a:endParaRPr lang="en-US" sz="1200" dirty="0"/>
          </a:p>
        </p:txBody>
      </p:sp>
      <p:sp>
        <p:nvSpPr>
          <p:cNvPr id="26" name="Seta"/>
          <p:cNvSpPr/>
          <p:nvPr/>
        </p:nvSpPr>
        <p:spPr>
          <a:xfrm>
            <a:off x="7854696" y="2606040"/>
            <a:ext cx="256032" cy="27432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7" name="Card"/>
          <p:cNvSpPr/>
          <p:nvPr/>
        </p:nvSpPr>
        <p:spPr>
          <a:xfrm>
            <a:off x="8156448" y="1737360"/>
            <a:ext cx="1554480" cy="20116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rgbClr val="243152"/>
            </a:solidFill>
            <a:prstDash val="solid"/>
          </a:ln>
        </p:spPr>
      </p:sp>
      <p:sp>
        <p:nvSpPr>
          <p:cNvPr id="28" name="Circulo icone"/>
          <p:cNvSpPr/>
          <p:nvPr/>
        </p:nvSpPr>
        <p:spPr>
          <a:xfrm>
            <a:off x="8567928" y="1920240"/>
            <a:ext cx="731520" cy="7315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9" name="Image 4" descr="icon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3493" y="2095805"/>
            <a:ext cx="380390" cy="38039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8156448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Script</a:t>
            </a:r>
            <a:endParaRPr lang="en-US" sz="1800" dirty="0"/>
          </a:p>
        </p:txBody>
      </p:sp>
      <p:sp>
        <p:nvSpPr>
          <p:cNvPr id="31" name="Text 24"/>
          <p:cNvSpPr txBox="1"/>
          <p:nvPr/>
        </p:nvSpPr>
        <p:spPr>
          <a:xfrm>
            <a:off x="8156448" y="3200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Planilha</a:t>
            </a:r>
            <a:endParaRPr lang="en-US" sz="1200" dirty="0"/>
          </a:p>
        </p:txBody>
      </p:sp>
      <p:sp>
        <p:nvSpPr>
          <p:cNvPr id="32" name="Seta"/>
          <p:cNvSpPr/>
          <p:nvPr/>
        </p:nvSpPr>
        <p:spPr>
          <a:xfrm>
            <a:off x="9756648" y="2606040"/>
            <a:ext cx="256032" cy="27432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3" name="Card"/>
          <p:cNvSpPr/>
          <p:nvPr/>
        </p:nvSpPr>
        <p:spPr>
          <a:xfrm>
            <a:off x="10058400" y="1737360"/>
            <a:ext cx="1554480" cy="20116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rgbClr val="243152"/>
            </a:solidFill>
            <a:prstDash val="solid"/>
          </a:ln>
        </p:spPr>
      </p:sp>
      <p:sp>
        <p:nvSpPr>
          <p:cNvPr id="34" name="Circulo icone"/>
          <p:cNvSpPr/>
          <p:nvPr/>
        </p:nvSpPr>
        <p:spPr>
          <a:xfrm>
            <a:off x="10469880" y="1920240"/>
            <a:ext cx="731520" cy="7315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5" name="Image 5" descr="icon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45445" y="2095805"/>
            <a:ext cx="380390" cy="38039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0058400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800" dirty="0"/>
          </a:p>
        </p:txBody>
      </p:sp>
      <p:sp>
        <p:nvSpPr>
          <p:cNvPr id="37" name="Text 29"/>
          <p:cNvSpPr txBox="1"/>
          <p:nvPr/>
        </p:nvSpPr>
        <p:spPr>
          <a:xfrm>
            <a:off x="10058400" y="3200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e tabela</a:t>
            </a:r>
            <a:endParaRPr lang="en-US" sz="1200" dirty="0"/>
          </a:p>
        </p:txBody>
      </p:sp>
      <p:sp>
        <p:nvSpPr>
          <p:cNvPr id="38" name="Card"/>
          <p:cNvSpPr/>
          <p:nvPr/>
        </p:nvSpPr>
        <p:spPr>
          <a:xfrm>
            <a:off x="548640" y="4206240"/>
            <a:ext cx="35661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rgbClr val="243152"/>
            </a:solidFill>
            <a:prstDash val="solid"/>
          </a:ln>
        </p:spPr>
      </p:sp>
      <p:sp>
        <p:nvSpPr>
          <p:cNvPr id="39" name="Text 31"/>
          <p:cNvSpPr txBox="1"/>
          <p:nvPr/>
        </p:nvSpPr>
        <p:spPr>
          <a:xfrm>
            <a:off x="822960" y="43891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pontos</a:t>
            </a:r>
            <a:endParaRPr lang="en-US" sz="3200" dirty="0"/>
          </a:p>
        </p:txBody>
      </p:sp>
      <p:sp>
        <p:nvSpPr>
          <p:cNvPr id="40" name="Text 32"/>
          <p:cNvSpPr txBox="1"/>
          <p:nvPr/>
        </p:nvSpPr>
        <p:spPr>
          <a:xfrm>
            <a:off x="822960" y="5029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lote gravado na flash</a:t>
            </a:r>
            <a:endParaRPr lang="en-US" sz="1600" dirty="0"/>
          </a:p>
        </p:txBody>
      </p:sp>
      <p:sp>
        <p:nvSpPr>
          <p:cNvPr id="41" name="Card"/>
          <p:cNvSpPr/>
          <p:nvPr/>
        </p:nvSpPr>
        <p:spPr>
          <a:xfrm>
            <a:off x="4297680" y="4206240"/>
            <a:ext cx="35661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rgbClr val="243152"/>
            </a:solidFill>
            <a:prstDash val="solid"/>
          </a:ln>
        </p:spPr>
      </p:sp>
      <p:sp>
        <p:nvSpPr>
          <p:cNvPr id="42" name="Text 34"/>
          <p:cNvSpPr txBox="1"/>
          <p:nvPr/>
        </p:nvSpPr>
        <p:spPr>
          <a:xfrm>
            <a:off x="4572000" y="43891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pontos</a:t>
            </a:r>
            <a:endParaRPr lang="en-US" sz="3200" dirty="0"/>
          </a:p>
        </p:txBody>
      </p:sp>
      <p:sp>
        <p:nvSpPr>
          <p:cNvPr id="43" name="Text 35"/>
          <p:cNvSpPr txBox="1"/>
          <p:nvPr/>
        </p:nvSpPr>
        <p:spPr>
          <a:xfrm>
            <a:off x="4572000" y="5029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arquivo CSV</a:t>
            </a:r>
            <a:endParaRPr lang="en-US" sz="1600" dirty="0"/>
          </a:p>
        </p:txBody>
      </p:sp>
      <p:sp>
        <p:nvSpPr>
          <p:cNvPr id="44" name="Card"/>
          <p:cNvSpPr/>
          <p:nvPr/>
        </p:nvSpPr>
        <p:spPr>
          <a:xfrm>
            <a:off x="8046720" y="4206240"/>
            <a:ext cx="35661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rgbClr val="243152"/>
            </a:solidFill>
            <a:prstDash val="solid"/>
          </a:ln>
        </p:spPr>
      </p:sp>
      <p:sp>
        <p:nvSpPr>
          <p:cNvPr id="45" name="Text 37"/>
          <p:cNvSpPr txBox="1"/>
          <p:nvPr/>
        </p:nvSpPr>
        <p:spPr>
          <a:xfrm>
            <a:off x="8321040" y="43891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n</a:t>
            </a:r>
            <a:endParaRPr lang="en-US" sz="3200" dirty="0"/>
          </a:p>
        </p:txBody>
      </p:sp>
      <p:sp>
        <p:nvSpPr>
          <p:cNvPr id="46" name="Text 38"/>
          <p:cNvSpPr txBox="1"/>
          <p:nvPr/>
        </p:nvSpPr>
        <p:spPr>
          <a:xfrm>
            <a:off x="8321040" y="5029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então o arquivo é apagado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3600" dirty="0"/>
          </a:p>
        </p:txBody>
      </p:sp>
      <p:sp>
        <p:nvSpPr>
          <p:cNvPr id="3" name="Card"/>
          <p:cNvSpPr/>
          <p:nvPr/>
        </p:nvSpPr>
        <p:spPr>
          <a:xfrm>
            <a:off x="548640" y="1554480"/>
            <a:ext cx="60350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rgbClr val="243152"/>
            </a:solidFill>
            <a:prstDash val="solid"/>
          </a:ln>
        </p:spPr>
      </p:sp>
      <p:sp>
        <p:nvSpPr>
          <p:cNvPr id="4" name="Circulo icone"/>
          <p:cNvSpPr/>
          <p:nvPr/>
        </p:nvSpPr>
        <p:spPr>
          <a:xfrm>
            <a:off x="731520" y="169164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i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5623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6642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de 30 pinos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2057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integrado, programada no Arduino IDE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548640" y="2651760"/>
            <a:ext cx="60350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rgbClr val="243152"/>
            </a:solidFill>
            <a:prstDash val="solid"/>
          </a:ln>
        </p:spPr>
      </p:sp>
      <p:sp>
        <p:nvSpPr>
          <p:cNvPr id="9" name="Circulo icone"/>
          <p:cNvSpPr/>
          <p:nvPr/>
        </p:nvSpPr>
        <p:spPr>
          <a:xfrm>
            <a:off x="731520" y="27889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ic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95351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00200" y="27614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NEO-M8N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1600200" y="3154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+ GLONASS, serial 9600 baud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548640" y="3749040"/>
            <a:ext cx="60350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rgbClr val="243152"/>
            </a:solidFill>
            <a:prstDash val="solid"/>
          </a:ln>
        </p:spPr>
      </p:sp>
      <p:sp>
        <p:nvSpPr>
          <p:cNvPr id="14" name="Circulo icone"/>
          <p:cNvSpPr/>
          <p:nvPr/>
        </p:nvSpPr>
        <p:spPr>
          <a:xfrm>
            <a:off x="731520" y="3886200"/>
            <a:ext cx="685800" cy="6858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5" name="Image 2" descr="ic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405079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00200" y="38587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Antena externa SMA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600200" y="4251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painel do carro, para melhor recepção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548640" y="4846320"/>
            <a:ext cx="60350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rgbClr val="243152"/>
            </a:solidFill>
            <a:prstDash val="solid"/>
          </a:ln>
        </p:spPr>
      </p:sp>
      <p:sp>
        <p:nvSpPr>
          <p:cNvPr id="19" name="Circulo icone"/>
          <p:cNvSpPr/>
          <p:nvPr/>
        </p:nvSpPr>
        <p:spPr>
          <a:xfrm>
            <a:off x="731520" y="498348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Image 3" descr="ic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5148072"/>
            <a:ext cx="356616" cy="35661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00200" y="49560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Alimentação USB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1600200" y="5349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Alimentada pelo USB (carro ou computador)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6949440" y="1554480"/>
            <a:ext cx="4663440" cy="425196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rgbClr val="243152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7269480" y="17830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Ligações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69480" y="2286000"/>
          <a:ext cx="4023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NEO-M8N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3V3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RX2 (GPIO16)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RXD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TX2 (GPIO17)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(solto)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6" name="Text 19"/>
          <p:cNvSpPr txBox="1"/>
          <p:nvPr/>
        </p:nvSpPr>
        <p:spPr>
          <a:xfrm>
            <a:off x="7269480" y="51663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azul da ESP32: pisca = buscando · fixo = gravando · 3 piscadas = enviado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firmware pensado para o carro</a:t>
            </a:r>
            <a:endParaRPr lang="en-US" sz="3600" dirty="0"/>
          </a:p>
        </p:txBody>
      </p:sp>
      <p:sp>
        <p:nvSpPr>
          <p:cNvPr id="3" name="Card"/>
          <p:cNvSpPr/>
          <p:nvPr/>
        </p:nvSpPr>
        <p:spPr>
          <a:xfrm>
            <a:off x="548640" y="1600200"/>
            <a:ext cx="35661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rgbClr val="243152"/>
            </a:solidFill>
            <a:prstDash val="solid"/>
          </a:ln>
        </p:spPr>
      </p:sp>
      <p:sp>
        <p:nvSpPr>
          <p:cNvPr id="4" name="Circulo icone"/>
          <p:cNvSpPr/>
          <p:nvPr/>
        </p:nvSpPr>
        <p:spPr>
          <a:xfrm>
            <a:off x="822960" y="18745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i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03911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97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de qualidade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08152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grava com fix, ≥ 5 satélites e HDOP ≤ 3,0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297680" y="1600200"/>
            <a:ext cx="35661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rgbClr val="243152"/>
            </a:solidFill>
            <a:prstDash val="solid"/>
          </a:ln>
        </p:spPr>
      </p:sp>
      <p:sp>
        <p:nvSpPr>
          <p:cNvPr id="9" name="Circulo icone"/>
          <p:cNvSpPr/>
          <p:nvPr/>
        </p:nvSpPr>
        <p:spPr>
          <a:xfrm>
            <a:off x="4572000" y="187452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mage 1" descr="ic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203911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72000" y="2697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Parado sem deriva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308152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Âncora de 50 m: o carro parado não anda no mapa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8046720" y="1600200"/>
            <a:ext cx="35661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rgbClr val="243152"/>
            </a:solidFill>
            <a:prstDash val="solid"/>
          </a:ln>
        </p:spPr>
      </p:sp>
      <p:sp>
        <p:nvSpPr>
          <p:cNvPr id="14" name="Circulo icone"/>
          <p:cNvSpPr/>
          <p:nvPr/>
        </p:nvSpPr>
        <p:spPr>
          <a:xfrm>
            <a:off x="8321040" y="187452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mage 2" descr="ic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203911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21040" y="2697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de Brasília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308152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UTC do GPS convertido para UTC-3 na ESP32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548640" y="3931920"/>
            <a:ext cx="35661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rgbClr val="243152"/>
            </a:solidFill>
            <a:prstDash val="solid"/>
          </a:ln>
        </p:spPr>
      </p:sp>
      <p:sp>
        <p:nvSpPr>
          <p:cNvPr id="19" name="Circulo icone"/>
          <p:cNvSpPr/>
          <p:nvPr/>
        </p:nvSpPr>
        <p:spPr>
          <a:xfrm>
            <a:off x="822960" y="4206240"/>
            <a:ext cx="685800" cy="6858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0" name="Image 3" descr="ic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370832"/>
            <a:ext cx="356616" cy="35661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22960" y="5029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Viagens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541324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partida é uma viagem nova (contador na NVS)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4297680" y="3931920"/>
            <a:ext cx="35661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rgbClr val="243152"/>
            </a:solidFill>
            <a:prstDash val="solid"/>
          </a:ln>
        </p:spPr>
      </p:sp>
      <p:sp>
        <p:nvSpPr>
          <p:cNvPr id="24" name="Circulo icone"/>
          <p:cNvSpPr/>
          <p:nvPr/>
        </p:nvSpPr>
        <p:spPr>
          <a:xfrm>
            <a:off x="4572000" y="4206240"/>
            <a:ext cx="685800" cy="6858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5" name="Image 4" descr="icon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4370832"/>
            <a:ext cx="356616" cy="35661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572000" y="5029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Chegada não se perde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4572000" y="541324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parar, grava na hora na flash</a:t>
            </a:r>
            <a:endParaRPr lang="en-US" sz="1400" dirty="0"/>
          </a:p>
        </p:txBody>
      </p:sp>
      <p:sp>
        <p:nvSpPr>
          <p:cNvPr id="28" name="Card"/>
          <p:cNvSpPr/>
          <p:nvPr/>
        </p:nvSpPr>
        <p:spPr>
          <a:xfrm>
            <a:off x="8046720" y="3931920"/>
            <a:ext cx="35661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rgbClr val="243152"/>
            </a:solidFill>
            <a:prstDash val="solid"/>
          </a:ln>
        </p:spPr>
      </p:sp>
      <p:sp>
        <p:nvSpPr>
          <p:cNvPr id="29" name="Circulo icone"/>
          <p:cNvSpPr/>
          <p:nvPr/>
        </p:nvSpPr>
        <p:spPr>
          <a:xfrm>
            <a:off x="8321040" y="4206240"/>
            <a:ext cx="685800" cy="6858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0" name="Image 5" descr="icon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5632" y="4370832"/>
            <a:ext cx="356616" cy="35661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321040" y="5029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sem travar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8321040" y="541324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 de estados; só apaga após o OK do servidor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Nuvem: planilha e Apps Script</a:t>
            </a:r>
            <a:endParaRPr lang="en-US" sz="3600" dirty="0"/>
          </a:p>
        </p:txBody>
      </p:sp>
      <p:sp>
        <p:nvSpPr>
          <p:cNvPr id="3" name="Card"/>
          <p:cNvSpPr/>
          <p:nvPr/>
        </p:nvSpPr>
        <p:spPr>
          <a:xfrm>
            <a:off x="548640" y="1554480"/>
            <a:ext cx="51206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rgbClr val="24315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642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doPost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o CSV da ESP32 e escreve na planilha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548640" y="2651760"/>
            <a:ext cx="51206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rgbClr val="24315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7614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doGet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54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a página web, protegida por senha no link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548640" y="3749040"/>
            <a:ext cx="51206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rgbClr val="24315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858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getPontos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251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os pontos da planilha à página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548640" y="4846320"/>
            <a:ext cx="51206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rgbClr val="24315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9560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excluirViagem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349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Apaga as linhas de uma viagem, conferindo cada uma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6035040" y="1554480"/>
            <a:ext cx="5577840" cy="425196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rgbClr val="24315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planilha é o banco de dados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2331720"/>
          <a:ext cx="49377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777240"/>
                <a:gridCol w="822960"/>
                <a:gridCol w="731520"/>
                <a:gridCol w="457200"/>
                <a:gridCol w="868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data_hora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vel_kmh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viagem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22/10 07:40:05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-18.9186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-48.2772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22/10 07:40:10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-18.9185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-48.2766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22/10 07:40:15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-18.9185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-48.2759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6355080" y="42976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ilustrativo (dados de demonstração)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355080" y="47091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servidor próprio e sem custo: o mesmo script recebe os dados e serve a página.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Interface: painel inicial</a:t>
            </a:r>
            <a:endParaRPr lang="en-US" sz="3600" dirty="0"/>
          </a:p>
        </p:txBody>
      </p:sp>
      <p:pic>
        <p:nvPicPr>
          <p:cNvPr id="3" name="Image 0" descr="Tela inicial da interfa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7498080" cy="4451985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548640" y="6006465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 com dados de demonstração</a:t>
            </a:r>
            <a:endParaRPr lang="en-US" sz="1100" dirty="0"/>
          </a:p>
        </p:txBody>
      </p:sp>
      <p:sp>
        <p:nvSpPr>
          <p:cNvPr id="5" name="Circulo icone"/>
          <p:cNvSpPr/>
          <p:nvPr/>
        </p:nvSpPr>
        <p:spPr>
          <a:xfrm>
            <a:off x="8412480" y="14630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1" descr="ic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5126" y="1605686"/>
            <a:ext cx="309067" cy="30906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189720" y="14447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9189720" y="184708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Viagens, distância total, km de hoje e velocidade média</a:t>
            </a:r>
            <a:endParaRPr lang="en-US" sz="1400" dirty="0"/>
          </a:p>
        </p:txBody>
      </p:sp>
      <p:sp>
        <p:nvSpPr>
          <p:cNvPr id="9" name="Circulo icone"/>
          <p:cNvSpPr/>
          <p:nvPr/>
        </p:nvSpPr>
        <p:spPr>
          <a:xfrm>
            <a:off x="8412480" y="297180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mage 2" descr="ic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126" y="3114446"/>
            <a:ext cx="309067" cy="309067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189720" y="29535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 viagem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9189720" y="335584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Saída, chegada, distância e velocidade média</a:t>
            </a:r>
            <a:endParaRPr lang="en-US" sz="1400" dirty="0"/>
          </a:p>
        </p:txBody>
      </p:sp>
      <p:sp>
        <p:nvSpPr>
          <p:cNvPr id="13" name="Circulo icone"/>
          <p:cNvSpPr/>
          <p:nvPr/>
        </p:nvSpPr>
        <p:spPr>
          <a:xfrm>
            <a:off x="8412480" y="448056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Image 3" descr="ic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5126" y="4623206"/>
            <a:ext cx="309067" cy="309067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189720" y="44622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ao vivo</a:t>
            </a:r>
            <a:endParaRPr lang="en-US" sz="1800" dirty="0"/>
          </a:p>
        </p:txBody>
      </p:sp>
      <p:sp>
        <p:nvSpPr>
          <p:cNvPr id="16" name="Text 10"/>
          <p:cNvSpPr txBox="1"/>
          <p:nvPr/>
        </p:nvSpPr>
        <p:spPr>
          <a:xfrm>
            <a:off x="9189720" y="486460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quando chegou posição nos últimos 15 min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Interface: mapa e gráfico de velocidade</a:t>
            </a:r>
            <a:endParaRPr lang="en-US" sz="3600" dirty="0"/>
          </a:p>
        </p:txBody>
      </p:sp>
      <p:pic>
        <p:nvPicPr>
          <p:cNvPr id="3" name="Image 0" descr="Mapa de uma viagem com grafico de velocida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463040"/>
            <a:ext cx="7406640" cy="4397693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4206240" y="5952173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 com dados de demonstração; o fundo do mapa aparece com internet.</a:t>
            </a:r>
            <a:endParaRPr lang="en-US" sz="1100" dirty="0"/>
          </a:p>
        </p:txBody>
      </p:sp>
      <p:sp>
        <p:nvSpPr>
          <p:cNvPr id="5" name="Circulo icone"/>
          <p:cNvSpPr/>
          <p:nvPr/>
        </p:nvSpPr>
        <p:spPr>
          <a:xfrm>
            <a:off x="548640" y="14630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1" descr="ic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86" y="1605686"/>
            <a:ext cx="309067" cy="30906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25880" y="14447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cor por viagem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1325880" y="1847088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verde, chegada vermelha</a:t>
            </a:r>
            <a:endParaRPr lang="en-US" sz="1400" dirty="0"/>
          </a:p>
        </p:txBody>
      </p:sp>
      <p:sp>
        <p:nvSpPr>
          <p:cNvPr id="9" name="Circulo icone"/>
          <p:cNvSpPr/>
          <p:nvPr/>
        </p:nvSpPr>
        <p:spPr>
          <a:xfrm>
            <a:off x="548640" y="297180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Image 2" descr="ic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3114446"/>
            <a:ext cx="309067" cy="309067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29535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Paradas e falhas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1325880" y="3355848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Parada em laranja; sem sinal tracejado</a:t>
            </a:r>
            <a:endParaRPr lang="en-US" sz="1400" dirty="0"/>
          </a:p>
        </p:txBody>
      </p:sp>
      <p:sp>
        <p:nvSpPr>
          <p:cNvPr id="13" name="Circulo icone"/>
          <p:cNvSpPr/>
          <p:nvPr/>
        </p:nvSpPr>
        <p:spPr>
          <a:xfrm>
            <a:off x="548640" y="448056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Image 3" descr="ic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" y="4623206"/>
            <a:ext cx="309067" cy="309067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25880" y="44622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interativo</a:t>
            </a:r>
            <a:endParaRPr lang="en-US" sz="1800" dirty="0"/>
          </a:p>
        </p:txBody>
      </p:sp>
      <p:sp>
        <p:nvSpPr>
          <p:cNvPr id="16" name="Text 10"/>
          <p:cNvSpPr txBox="1"/>
          <p:nvPr/>
        </p:nvSpPr>
        <p:spPr>
          <a:xfrm>
            <a:off x="1325880" y="4864608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 o dedo e o ponto aparece no mapa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Interface: tabela de viagens</a:t>
            </a:r>
            <a:endParaRPr lang="en-US" sz="3600" dirty="0"/>
          </a:p>
        </p:txBody>
      </p:sp>
      <p:pic>
        <p:nvPicPr>
          <p:cNvPr id="3" name="Image 0" descr="Tabela de viage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7498080" cy="4451985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548640" y="6006465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 com dados de demonstração</a:t>
            </a:r>
            <a:endParaRPr lang="en-US" sz="1100" dirty="0"/>
          </a:p>
        </p:txBody>
      </p:sp>
      <p:sp>
        <p:nvSpPr>
          <p:cNvPr id="5" name="Circulo icone"/>
          <p:cNvSpPr/>
          <p:nvPr/>
        </p:nvSpPr>
        <p:spPr>
          <a:xfrm>
            <a:off x="8412480" y="14630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1" descr="ic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5126" y="1605686"/>
            <a:ext cx="309067" cy="30906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189720" y="14447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linha por viagem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9189720" y="184708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Saída, chegada, duração, distância, velocidade e paradas</a:t>
            </a:r>
            <a:endParaRPr lang="en-US" sz="1400" dirty="0"/>
          </a:p>
        </p:txBody>
      </p:sp>
      <p:sp>
        <p:nvSpPr>
          <p:cNvPr id="9" name="Circulo icone"/>
          <p:cNvSpPr/>
          <p:nvPr/>
        </p:nvSpPr>
        <p:spPr>
          <a:xfrm>
            <a:off x="8412480" y="297180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mage 2" descr="ic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126" y="3114446"/>
            <a:ext cx="309067" cy="309067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189720" y="29535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no mapa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9189720" y="335584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a viagem escolhida já com o gráfico</a:t>
            </a:r>
            <a:endParaRPr lang="en-US" sz="1400" dirty="0"/>
          </a:p>
        </p:txBody>
      </p:sp>
      <p:sp>
        <p:nvSpPr>
          <p:cNvPr id="13" name="Circulo icone"/>
          <p:cNvSpPr/>
          <p:nvPr/>
        </p:nvSpPr>
        <p:spPr>
          <a:xfrm>
            <a:off x="8412480" y="4480560"/>
            <a:ext cx="594360" cy="5943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4" name="Image 3" descr="ic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5126" y="4623206"/>
            <a:ext cx="309067" cy="309067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189720" y="44622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Excluir viagem</a:t>
            </a:r>
            <a:endParaRPr lang="en-US" sz="1800" dirty="0"/>
          </a:p>
        </p:txBody>
      </p:sp>
      <p:sp>
        <p:nvSpPr>
          <p:cNvPr id="16" name="Text 10"/>
          <p:cNvSpPr txBox="1"/>
          <p:nvPr/>
        </p:nvSpPr>
        <p:spPr>
          <a:xfrm>
            <a:off x="9189720" y="486460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confirmação; libera espaço na planilha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e soluções</a:t>
            </a:r>
            <a:endParaRPr lang="en-US" sz="3600" dirty="0"/>
          </a:p>
        </p:txBody>
      </p:sp>
      <p:sp>
        <p:nvSpPr>
          <p:cNvPr id="3" name="Card"/>
          <p:cNvSpPr/>
          <p:nvPr/>
        </p:nvSpPr>
        <p:spPr>
          <a:xfrm>
            <a:off x="548640" y="1554480"/>
            <a:ext cx="50292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rgbClr val="24315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demora para o primeiro fix</a:t>
            </a:r>
            <a:endParaRPr lang="en-US" sz="1800" dirty="0"/>
          </a:p>
        </p:txBody>
      </p:sp>
      <p:sp>
        <p:nvSpPr>
          <p:cNvPr id="5" name="Seta"/>
          <p:cNvSpPr/>
          <p:nvPr/>
        </p:nvSpPr>
        <p:spPr>
          <a:xfrm>
            <a:off x="5715000" y="1856232"/>
            <a:ext cx="502920" cy="310896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Card"/>
          <p:cNvSpPr/>
          <p:nvPr/>
        </p:nvSpPr>
        <p:spPr>
          <a:xfrm>
            <a:off x="6355080" y="1554480"/>
            <a:ext cx="52578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rgbClr val="24315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29400" y="15544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Antena externa no painel e esperar o fix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548640" y="2651760"/>
            <a:ext cx="50292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rgbClr val="2431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6517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Carro parado "andando" no mapa</a:t>
            </a:r>
            <a:endParaRPr lang="en-US" sz="1800" dirty="0"/>
          </a:p>
        </p:txBody>
      </p:sp>
      <p:sp>
        <p:nvSpPr>
          <p:cNvPr id="10" name="Seta"/>
          <p:cNvSpPr/>
          <p:nvPr/>
        </p:nvSpPr>
        <p:spPr>
          <a:xfrm>
            <a:off x="5715000" y="2953512"/>
            <a:ext cx="502920" cy="310896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Card"/>
          <p:cNvSpPr/>
          <p:nvPr/>
        </p:nvSpPr>
        <p:spPr>
          <a:xfrm>
            <a:off x="6355080" y="2651760"/>
            <a:ext cx="52578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rgbClr val="24315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29400" y="26517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de qualidade e âncora de posição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548640" y="3749040"/>
            <a:ext cx="50292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rgbClr val="24315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7490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Horário 3 horas adiantado (UTC)</a:t>
            </a:r>
            <a:endParaRPr lang="en-US" sz="1800" dirty="0"/>
          </a:p>
        </p:txBody>
      </p:sp>
      <p:sp>
        <p:nvSpPr>
          <p:cNvPr id="15" name="Seta"/>
          <p:cNvSpPr/>
          <p:nvPr/>
        </p:nvSpPr>
        <p:spPr>
          <a:xfrm>
            <a:off x="5715000" y="4050792"/>
            <a:ext cx="502920" cy="310896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Card"/>
          <p:cNvSpPr/>
          <p:nvPr/>
        </p:nvSpPr>
        <p:spPr>
          <a:xfrm>
            <a:off x="6355080" y="3749040"/>
            <a:ext cx="52578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rgbClr val="24315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37490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Conversão para Brasília dentro da ESP32</a:t>
            </a:r>
            <a:endParaRPr lang="en-US" sz="1600" dirty="0"/>
          </a:p>
        </p:txBody>
      </p:sp>
      <p:sp>
        <p:nvSpPr>
          <p:cNvPr id="18" name="Card"/>
          <p:cNvSpPr/>
          <p:nvPr/>
        </p:nvSpPr>
        <p:spPr>
          <a:xfrm>
            <a:off x="548640" y="4846320"/>
            <a:ext cx="50292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rgbClr val="24315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48463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 posição perdida ao desligar</a:t>
            </a:r>
            <a:endParaRPr lang="en-US" sz="1800" dirty="0"/>
          </a:p>
        </p:txBody>
      </p:sp>
      <p:sp>
        <p:nvSpPr>
          <p:cNvPr id="20" name="Seta"/>
          <p:cNvSpPr/>
          <p:nvPr/>
        </p:nvSpPr>
        <p:spPr>
          <a:xfrm>
            <a:off x="5715000" y="5148072"/>
            <a:ext cx="502920" cy="310896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Card"/>
          <p:cNvSpPr/>
          <p:nvPr/>
        </p:nvSpPr>
        <p:spPr>
          <a:xfrm>
            <a:off x="6355080" y="4846320"/>
            <a:ext cx="52578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rgbClr val="24315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29400" y="48463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Gravar na flash na hora em que o carro para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e validação</a:t>
            </a:r>
            <a:endParaRPr lang="en-US" sz="3600" dirty="0"/>
          </a:p>
        </p:txBody>
      </p:sp>
      <p:sp>
        <p:nvSpPr>
          <p:cNvPr id="3" name="Card"/>
          <p:cNvSpPr/>
          <p:nvPr/>
        </p:nvSpPr>
        <p:spPr>
          <a:xfrm>
            <a:off x="548640" y="160020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24315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8745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7432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satélites travados com a antena externa no painel do carro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6172200" y="160020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24315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37960" y="18745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200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27432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 real pelo Wi-Fi à planilha, com resposta HTTP 200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548640" y="379476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24315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40690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viagens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9377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simuladas no PC com o código real da ESP32</a:t>
            </a:r>
            <a:endParaRPr lang="en-US" sz="1600" dirty="0"/>
          </a:p>
        </p:txBody>
      </p:sp>
      <p:sp>
        <p:nvSpPr>
          <p:cNvPr id="12" name="Card"/>
          <p:cNvSpPr/>
          <p:nvPr/>
        </p:nvSpPr>
        <p:spPr>
          <a:xfrm>
            <a:off x="6172200" y="379476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24315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37960" y="40690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camadas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49377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testadas: firmware, Apps Script e interface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3600" dirty="0"/>
          </a:p>
        </p:txBody>
      </p:sp>
      <p:sp>
        <p:nvSpPr>
          <p:cNvPr id="3" name="Card"/>
          <p:cNvSpPr/>
          <p:nvPr/>
        </p:nvSpPr>
        <p:spPr>
          <a:xfrm>
            <a:off x="548640" y="1554480"/>
            <a:ext cx="544068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rgbClr val="243152"/>
            </a:solidFill>
            <a:prstDash val="solid"/>
          </a:ln>
        </p:spPr>
      </p:sp>
      <p:sp>
        <p:nvSpPr>
          <p:cNvPr id="4" name="Circulo icone"/>
          <p:cNvSpPr/>
          <p:nvPr/>
        </p:nvSpPr>
        <p:spPr>
          <a:xfrm>
            <a:off x="822960" y="18288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i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99339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7830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Bateria de backup no GPS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22128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Partida a quente: fix em segundos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6172200" y="1554480"/>
            <a:ext cx="544068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rgbClr val="243152"/>
            </a:solidFill>
            <a:prstDash val="solid"/>
          </a:ln>
        </p:spPr>
      </p:sp>
      <p:sp>
        <p:nvSpPr>
          <p:cNvPr id="9" name="Circulo icone"/>
          <p:cNvSpPr/>
          <p:nvPr/>
        </p:nvSpPr>
        <p:spPr>
          <a:xfrm>
            <a:off x="6446520" y="1828800"/>
            <a:ext cx="685800" cy="6858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0" name="Image 1" descr="ic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199339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06640" y="17830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4G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7406640" y="22128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 em tempo real, sem o celular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548640" y="2971800"/>
            <a:ext cx="544068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rgbClr val="243152"/>
            </a:solidFill>
            <a:prstDash val="solid"/>
          </a:ln>
        </p:spPr>
      </p:sp>
      <p:sp>
        <p:nvSpPr>
          <p:cNvPr id="14" name="Circulo icone"/>
          <p:cNvSpPr/>
          <p:nvPr/>
        </p:nvSpPr>
        <p:spPr>
          <a:xfrm>
            <a:off x="822960" y="324612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ic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41071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783080" y="3200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OLED de status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783080" y="3630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projetado e testado em simulação; adiado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6172200" y="2971800"/>
            <a:ext cx="544068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rgbClr val="243152"/>
            </a:solidFill>
            <a:prstDash val="solid"/>
          </a:ln>
        </p:spPr>
      </p:sp>
      <p:sp>
        <p:nvSpPr>
          <p:cNvPr id="19" name="Circulo icone"/>
          <p:cNvSpPr/>
          <p:nvPr/>
        </p:nvSpPr>
        <p:spPr>
          <a:xfrm>
            <a:off x="6446520" y="324612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Image 3" descr="ic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112" y="3410712"/>
            <a:ext cx="356616" cy="35661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06640" y="3200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Ventoinha com controle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7406640" y="3630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MOSFET + temperatura; análise de corrente pronta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548640" y="4389120"/>
            <a:ext cx="544068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rgbClr val="243152"/>
            </a:solidFill>
            <a:prstDash val="solid"/>
          </a:ln>
        </p:spPr>
      </p:sp>
      <p:sp>
        <p:nvSpPr>
          <p:cNvPr id="24" name="Circulo icone"/>
          <p:cNvSpPr/>
          <p:nvPr/>
        </p:nvSpPr>
        <p:spPr>
          <a:xfrm>
            <a:off x="822960" y="4663440"/>
            <a:ext cx="685800" cy="6858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5" name="Image 4" descr="icon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4828032"/>
            <a:ext cx="356616" cy="35661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783080" y="4617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de velocidade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1783080" y="504748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acima do limite marcados no mapa</a:t>
            </a:r>
            <a:endParaRPr lang="en-US" sz="1400" dirty="0"/>
          </a:p>
        </p:txBody>
      </p:sp>
      <p:sp>
        <p:nvSpPr>
          <p:cNvPr id="28" name="Card"/>
          <p:cNvSpPr/>
          <p:nvPr/>
        </p:nvSpPr>
        <p:spPr>
          <a:xfrm>
            <a:off x="6172200" y="4389120"/>
            <a:ext cx="544068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rgbClr val="243152"/>
            </a:solidFill>
            <a:prstDash val="solid"/>
          </a:ln>
        </p:spPr>
      </p:sp>
      <p:sp>
        <p:nvSpPr>
          <p:cNvPr id="29" name="Circulo icone"/>
          <p:cNvSpPr/>
          <p:nvPr/>
        </p:nvSpPr>
        <p:spPr>
          <a:xfrm>
            <a:off x="6446520" y="4663440"/>
            <a:ext cx="685800" cy="6858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30" name="Image 5" descr="icon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1112" y="4828032"/>
            <a:ext cx="356616" cy="35661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406640" y="4617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da viagem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7406640" y="504748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Animação do trajeto com barra de tempo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</a:t>
            </a:r>
            <a:endParaRPr lang="en-US" sz="3600" dirty="0"/>
          </a:p>
        </p:txBody>
      </p:sp>
      <p:sp>
        <p:nvSpPr>
          <p:cNvPr id="3" name="Card"/>
          <p:cNvSpPr/>
          <p:nvPr/>
        </p:nvSpPr>
        <p:spPr>
          <a:xfrm>
            <a:off x="548640" y="1554480"/>
            <a:ext cx="74980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rgbClr val="243152"/>
            </a:solidFill>
            <a:prstDash val="solid"/>
          </a:ln>
        </p:spPr>
      </p:sp>
      <p:sp>
        <p:nvSpPr>
          <p:cNvPr id="4" name="Numero"/>
          <p:cNvSpPr/>
          <p:nvPr/>
        </p:nvSpPr>
        <p:spPr>
          <a:xfrm>
            <a:off x="777240" y="1719072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190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66420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Ligar a ESP32 no USB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05740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azul pisca: buscando sinal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548640" y="2651760"/>
            <a:ext cx="74980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rgbClr val="243152"/>
            </a:solidFill>
            <a:prstDash val="solid"/>
          </a:ln>
        </p:spPr>
      </p:sp>
      <p:sp>
        <p:nvSpPr>
          <p:cNvPr id="9" name="Numero"/>
          <p:cNvSpPr/>
          <p:nvPr/>
        </p:nvSpPr>
        <p:spPr>
          <a:xfrm>
            <a:off x="777240" y="2816352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8163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276148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trava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15468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azul fixo: gravando o trajeto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548640" y="3749040"/>
            <a:ext cx="74980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rgbClr val="243152"/>
            </a:solidFill>
            <a:prstDash val="solid"/>
          </a:ln>
        </p:spPr>
      </p:sp>
      <p:sp>
        <p:nvSpPr>
          <p:cNvPr id="14" name="Numero"/>
          <p:cNvSpPr/>
          <p:nvPr/>
        </p:nvSpPr>
        <p:spPr>
          <a:xfrm>
            <a:off x="777240" y="3913632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9136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691640" y="385876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para a planilha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25196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Automático no intervalo, ou comando w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548640" y="4846320"/>
            <a:ext cx="74980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rgbClr val="243152"/>
            </a:solidFill>
            <a:prstDash val="solid"/>
          </a:ln>
        </p:spPr>
      </p:sp>
      <p:sp>
        <p:nvSpPr>
          <p:cNvPr id="19" name="Numero"/>
          <p:cNvSpPr/>
          <p:nvPr/>
        </p:nvSpPr>
        <p:spPr>
          <a:xfrm>
            <a:off x="777240" y="5010912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50109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1691640" y="495604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o mapa no celular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691640" y="534924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Viagem, paradas e gráfico de velocidade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8412480" y="1554480"/>
            <a:ext cx="3200400" cy="425196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rgbClr val="24315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86800" y="20116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3200" dirty="0"/>
          </a:p>
        </p:txBody>
      </p:sp>
      <p:sp>
        <p:nvSpPr>
          <p:cNvPr id="25" name="Text 23"/>
          <p:cNvSpPr txBox="1"/>
          <p:nvPr/>
        </p:nvSpPr>
        <p:spPr>
          <a:xfrm>
            <a:off x="8686800" y="292608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Código, testes e documentação estão no repositório do GitHub.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0" y="4846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inel Escuro GPS">
  <a:themeElements>
    <a:clrScheme name="Painel Escuro GPS">
      <a:dk1>
        <a:srgbClr val="E5E9F5"/>
      </a:dk1>
      <a:lt1>
        <a:srgbClr val="0B1020"/>
      </a:lt1>
      <a:dk2>
        <a:srgbClr val="8B97B5"/>
      </a:dk2>
      <a:lt2>
        <a:srgbClr val="121A2F"/>
      </a:lt2>
      <a:accent1>
        <a:srgbClr val="60A5FA"/>
      </a:accent1>
      <a:accent2>
        <a:srgbClr val="34D399"/>
      </a:accent2>
      <a:accent3>
        <a:srgbClr val="FBBF24"/>
      </a:accent3>
      <a:accent4>
        <a:srgbClr val="C084FC"/>
      </a:accent4>
      <a:accent5>
        <a:srgbClr val="F87171"/>
      </a:accent5>
      <a:accent6>
        <a:srgbClr val="2DD4BF"/>
      </a:accent6>
      <a:hlink>
        <a:srgbClr val="60A5FA"/>
      </a:hlink>
      <a:folHlink>
        <a:srgbClr val="C084FC"/>
      </a:folHlink>
    </a:clrScheme>
    <a:fontScheme name="Painel Escuro GPS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Monitoramento GPS veicular com ESP32</dc:title>
  <dc:subject>Desafio do processo seletivo - estagio em hardware embarcado</dc:subject>
  <dc:creator>PptxGenJS</dc:creator>
  <cp:lastModifiedBy>PptxGenJS</cp:lastModifiedBy>
  <cp:revision>1</cp:revision>
  <dcterms:created xsi:type="dcterms:W3CDTF">2026-10-23T12:48:03Z</dcterms:created>
  <dcterms:modified xsi:type="dcterms:W3CDTF">2026-10-23T12:48:03Z</dcterms:modified>
</cp:coreProperties>
</file>